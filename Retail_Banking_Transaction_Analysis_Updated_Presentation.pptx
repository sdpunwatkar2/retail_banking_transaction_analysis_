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65" r:id="rId3"/>
    <p:sldId id="258" r:id="rId4"/>
    <p:sldId id="260" r:id="rId5"/>
    <p:sldId id="261" r:id="rId6"/>
    <p:sldId id="262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64" r:id="rId29"/>
    <p:sldId id="266" r:id="rId30"/>
    <p:sldId id="259" r:id="rId31"/>
  </p:sldIdLst>
  <p:sldSz cx="12192000" cy="6858000"/>
  <p:notesSz cx="6858000" cy="9144000"/>
  <p:embeddedFontLst>
    <p:embeddedFont>
      <p:font typeface="Libre Baskerville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punwatkar2/Retail_Banking_Transaction_Analysis_" TargetMode="External"/><Relationship Id="rId2" Type="http://schemas.openxmlformats.org/officeDocument/2006/relationships/hyperlink" Target="https://linkedin.com/in/shantanu-punwatkar-806406273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59" y="8467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AE" sz="3000" b="1" dirty="0">
                <a:latin typeface="+mj-lt"/>
                <a:cs typeface="Times New Roman" panose="02020603050405020304" pitchFamily="18" charset="0"/>
              </a:rPr>
              <a:t>Retail Bank Transaction Analysis</a:t>
            </a:r>
          </a:p>
          <a:p>
            <a:pPr lvl="0" algn="ctr">
              <a:buSzPts val="1800"/>
            </a:pPr>
            <a:r>
              <a:rPr lang="en-AE" b="1" dirty="0">
                <a:latin typeface="+mj-lt"/>
                <a:cs typeface="Times New Roman" panose="02020603050405020304" pitchFamily="18" charset="0"/>
              </a:rPr>
              <a:t>A</a:t>
            </a:r>
            <a:r>
              <a:rPr lang="en-AE" b="1" i="0" u="none" strike="noStrike" cap="none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  <a:sym typeface="Arial"/>
              </a:rPr>
              <a:t> DATABASE Using MYSQL</a:t>
            </a:r>
          </a:p>
          <a:p>
            <a:pPr lvl="0" algn="ctr">
              <a:buSzPts val="1800"/>
            </a:pPr>
            <a:endParaRPr lang="en-AE" sz="1200" b="1" i="0" u="none" strike="noStrike" cap="none" dirty="0">
              <a:solidFill>
                <a:srgbClr val="000000"/>
              </a:solidFill>
              <a:latin typeface="+mj-lt"/>
              <a:cs typeface="Times New Roman" panose="02020603050405020304" pitchFamily="18" charset="0"/>
              <a:sym typeface="Arial"/>
            </a:endParaRPr>
          </a:p>
          <a:p>
            <a:pPr lvl="0" algn="ctr">
              <a:buSzPts val="1800"/>
            </a:pPr>
            <a:endParaRPr lang="en-AE" sz="12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endParaRPr lang="en-AE" sz="2000" b="1" dirty="0">
              <a:latin typeface="+mj-lt"/>
              <a:cs typeface="Times New Roman" panose="02020603050405020304" pitchFamily="18" charset="0"/>
            </a:endParaRPr>
          </a:p>
          <a:p>
            <a:pPr lvl="0" algn="ctr">
              <a:buSzPts val="1800"/>
            </a:pPr>
            <a:r>
              <a:rPr lang="en-AE" sz="2300" b="1" dirty="0">
                <a:latin typeface="+mj-lt"/>
                <a:cs typeface="Times New Roman" panose="02020603050405020304" pitchFamily="18" charset="0"/>
              </a:rPr>
              <a:t>Presented By :</a:t>
            </a:r>
          </a:p>
          <a:p>
            <a:pPr lvl="0" algn="ctr">
              <a:buSzPts val="1800"/>
            </a:pPr>
            <a:r>
              <a:rPr lang="en-AE" sz="2500" b="1" dirty="0">
                <a:latin typeface="+mj-lt"/>
                <a:cs typeface="Times New Roman" panose="02020603050405020304" pitchFamily="18" charset="0"/>
              </a:rPr>
              <a:t>SHANTANU PUNWATKAR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23E7-956F-8AB7-3D16-6508DC3B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265472"/>
            <a:ext cx="11041625" cy="75708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About Me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33FB6-E19D-11CC-9600-E85D348C6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022555"/>
            <a:ext cx="11041625" cy="5122607"/>
          </a:xfrm>
        </p:spPr>
        <p:txBody>
          <a:bodyPr>
            <a:normAutofit/>
          </a:bodyPr>
          <a:lstStyle/>
          <a:p>
            <a:r>
              <a:rPr sz="2400" dirty="0"/>
              <a:t>SHANTANU PUNWATKAR , </a:t>
            </a:r>
            <a:r>
              <a:rPr sz="2400" dirty="0" err="1"/>
              <a:t>B.Tech</a:t>
            </a:r>
            <a:r>
              <a:rPr sz="2400" dirty="0"/>
              <a:t> – CSE</a:t>
            </a:r>
          </a:p>
          <a:p>
            <a:endParaRPr sz="1800" dirty="0"/>
          </a:p>
          <a:p>
            <a:r>
              <a:rPr sz="1800" dirty="0"/>
              <a:t>Why Data Science? </a:t>
            </a:r>
            <a:endParaRPr lang="en-US" sz="1800" dirty="0"/>
          </a:p>
          <a:p>
            <a:pPr marL="571500" lvl="1" indent="0">
              <a:buNone/>
            </a:pPr>
            <a:r>
              <a:rPr lang="en-US" sz="2000" dirty="0"/>
              <a:t>- </a:t>
            </a:r>
            <a:r>
              <a:rPr sz="2000" dirty="0"/>
              <a:t>Data science gives you the ultimate power to predict trends and guide massive choices using everyday data. It has many open roles, high demand, good pay, job flexibility etc..</a:t>
            </a:r>
          </a:p>
          <a:p>
            <a:endParaRPr sz="1800" dirty="0"/>
          </a:p>
          <a:p>
            <a:r>
              <a:rPr sz="1800" dirty="0"/>
              <a:t>Work Experience : Fresher</a:t>
            </a:r>
          </a:p>
          <a:p>
            <a:endParaRPr sz="1800" dirty="0"/>
          </a:p>
          <a:p>
            <a:pPr lvl="0"/>
            <a:r>
              <a:rPr sz="1800" dirty="0"/>
              <a:t>LinkedIn :  </a:t>
            </a:r>
            <a:r>
              <a:rPr sz="2000" dirty="0">
                <a:hlinkClick r:id="rId2"/>
              </a:rPr>
              <a:t>https://linkedin.com/</a:t>
            </a:r>
            <a:r>
              <a:rPr lang="en-US" sz="2000" dirty="0">
                <a:hlinkClick r:id="rId2"/>
              </a:rPr>
              <a:t>in/shantanu-punwatkar-806406273</a:t>
            </a:r>
            <a:br>
              <a:rPr lang="en-US" sz="1800" dirty="0"/>
            </a:br>
            <a:endParaRPr lang="en-US" sz="1800" dirty="0"/>
          </a:p>
          <a:p>
            <a:pPr lvl="0"/>
            <a:r>
              <a:rPr sz="1800" dirty="0"/>
              <a:t>GitHub  : </a:t>
            </a:r>
            <a:r>
              <a:rPr lang="en-US" sz="1800" dirty="0"/>
              <a:t> </a:t>
            </a:r>
            <a:r>
              <a:rPr lang="en-US" sz="1800" dirty="0">
                <a:hlinkClick r:id="rId3"/>
              </a:rPr>
              <a:t>https://github.com/sdpunwatkar2/Retail_Banking_Transaction_Analysis_</a:t>
            </a:r>
            <a:endParaRPr lang="en-US" sz="1800" dirty="0"/>
          </a:p>
          <a:p>
            <a:pPr lvl="0"/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46382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314632"/>
            <a:ext cx="10515600" cy="73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000" b="1" dirty="0">
                <a:solidFill>
                  <a:srgbClr val="FF0000"/>
                </a:solidFill>
                <a:latin typeface="+mn-lt"/>
              </a:rPr>
              <a:t>Agenda</a:t>
            </a:r>
            <a:endParaRPr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150374"/>
            <a:ext cx="10838526" cy="498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Database Structure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 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400" b="1" dirty="0"/>
          </a:p>
          <a:p>
            <a:pPr lvl="0" indent="-431800">
              <a:buSzPts val="2400"/>
            </a:pPr>
            <a:r>
              <a:rPr lang="en-IN" sz="2400" b="1" dirty="0"/>
              <a:t>Experience/Challenges</a:t>
            </a:r>
            <a:endParaRPr lang="en-IN" sz="2400" dirty="0"/>
          </a:p>
          <a:p>
            <a:pPr lvl="0" indent="-431800">
              <a:buSzPts val="2400"/>
            </a:pPr>
            <a:endParaRPr lang="en-IN" sz="2400" b="1" dirty="0"/>
          </a:p>
          <a:p>
            <a:pPr lvl="0" indent="-431800">
              <a:buSzPts val="2400"/>
            </a:pPr>
            <a:r>
              <a:rPr lang="en-IN" sz="2400" b="1" dirty="0"/>
              <a:t>Conclusion</a:t>
            </a:r>
            <a:endParaRPr lang="en-IN"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839-4FF5-3F94-8727-DA1CA6C9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5470"/>
            <a:ext cx="10972800" cy="101272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3300" b="1" dirty="0">
                <a:solidFill>
                  <a:srgbClr val="FF0000"/>
                </a:solidFill>
                <a:latin typeface="+mn-lt"/>
              </a:rPr>
              <a:t>Objective of the Project :</a:t>
            </a:r>
            <a:br>
              <a:rPr lang="en-IN" sz="3300" b="1" dirty="0">
                <a:solidFill>
                  <a:srgbClr val="FF0000"/>
                </a:solidFill>
              </a:rPr>
            </a:br>
            <a:endParaRPr lang="en-AE" sz="33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D52B1-A46E-88BA-65EE-8D7F46D9C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090" y="1278194"/>
            <a:ext cx="10776155" cy="4157406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To analyze the </a:t>
            </a:r>
            <a:r>
              <a:rPr lang="en-US" sz="2400" b="1" dirty="0"/>
              <a:t>customer profile and segmentation</a:t>
            </a:r>
            <a:r>
              <a:rPr lang="en-US" sz="2400" dirty="0"/>
              <a:t> based on demographics, income, credit score, activity, KYC status, and tenure. </a:t>
            </a:r>
          </a:p>
          <a:p>
            <a:pPr lvl="0"/>
            <a:r>
              <a:rPr lang="en-US" sz="2400" dirty="0"/>
              <a:t>To examine </a:t>
            </a:r>
            <a:r>
              <a:rPr lang="en-US" sz="2400" b="1" dirty="0"/>
              <a:t>account usage and branch activity</a:t>
            </a:r>
            <a:r>
              <a:rPr lang="en-US" sz="2400" dirty="0"/>
              <a:t> across different account types, customers, balances, and branches. </a:t>
            </a:r>
          </a:p>
          <a:p>
            <a:pPr lvl="0"/>
            <a:r>
              <a:rPr lang="en-US" sz="2400" dirty="0"/>
              <a:t>To identify and analyze </a:t>
            </a:r>
            <a:r>
              <a:rPr lang="en-US" sz="2400" b="1" dirty="0"/>
              <a:t>transaction patterns</a:t>
            </a:r>
            <a:r>
              <a:rPr lang="en-US" sz="2400" dirty="0"/>
              <a:t>, including transaction types, channels, amounts, and activity over time. </a:t>
            </a:r>
          </a:p>
          <a:p>
            <a:pPr lvl="0"/>
            <a:r>
              <a:rPr lang="en-US" sz="2400" dirty="0"/>
              <a:t>To evaluate </a:t>
            </a:r>
            <a:r>
              <a:rPr lang="en-US" sz="2400" b="1" dirty="0"/>
              <a:t>loan performance and repayment </a:t>
            </a:r>
            <a:r>
              <a:rPr lang="en-US" sz="2400" b="1" dirty="0" err="1"/>
              <a:t>behaviour</a:t>
            </a:r>
            <a:r>
              <a:rPr lang="en-US" sz="2400" dirty="0"/>
              <a:t>, including outstanding balances, delayed payments, penalties, and loan status. </a:t>
            </a:r>
          </a:p>
          <a:p>
            <a:pPr lvl="0"/>
            <a:r>
              <a:rPr lang="en-US" sz="2400" dirty="0"/>
              <a:t>To understand </a:t>
            </a:r>
            <a:r>
              <a:rPr lang="en-US" sz="2400" b="1" dirty="0"/>
              <a:t>card usage and overall product engagement</a:t>
            </a:r>
            <a:r>
              <a:rPr lang="en-US" sz="2400" dirty="0"/>
              <a:t>, including card types, credit limits, reward points, and customers using multiple banking products.</a:t>
            </a:r>
          </a:p>
        </p:txBody>
      </p:sp>
    </p:spTree>
    <p:extLst>
      <p:ext uri="{BB962C8B-B14F-4D97-AF65-F5344CB8AC3E}">
        <p14:creationId xmlns:p14="http://schemas.microsoft.com/office/powerpoint/2010/main" val="69416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E73C-CD18-0D81-B07F-5232825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306131"/>
            <a:ext cx="11051458" cy="1080217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rgbClr val="FF0000"/>
                </a:solidFill>
              </a:rPr>
              <a:t>Database Structure : </a:t>
            </a:r>
            <a:br>
              <a:rPr lang="en-IN" b="1" dirty="0"/>
            </a:b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666A4-0A7C-E0C0-5083-EDA37EE7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769" y="1386348"/>
            <a:ext cx="11051458" cy="47906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AE" sz="2400" dirty="0"/>
              <a:t>This project contains </a:t>
            </a:r>
            <a:r>
              <a:rPr lang="en-AE" sz="2400" b="1" dirty="0"/>
              <a:t>7 interrelated tables</a:t>
            </a:r>
            <a:r>
              <a:rPr lang="en-AE" sz="2400" dirty="0"/>
              <a:t>:</a:t>
            </a:r>
          </a:p>
          <a:p>
            <a:pPr lvl="0"/>
            <a:r>
              <a:rPr lang="en-AE" sz="2400" dirty="0"/>
              <a:t>Customers</a:t>
            </a:r>
          </a:p>
          <a:p>
            <a:pPr lvl="0"/>
            <a:r>
              <a:rPr lang="en-AE" sz="2400" dirty="0"/>
              <a:t>Branches</a:t>
            </a:r>
          </a:p>
          <a:p>
            <a:pPr lvl="0"/>
            <a:r>
              <a:rPr lang="en-AE" sz="2400" dirty="0"/>
              <a:t>Accounts</a:t>
            </a:r>
          </a:p>
          <a:p>
            <a:pPr lvl="0"/>
            <a:r>
              <a:rPr lang="en-AE" sz="2400" dirty="0"/>
              <a:t>Cards</a:t>
            </a:r>
          </a:p>
          <a:p>
            <a:pPr lvl="0"/>
            <a:r>
              <a:rPr lang="en-AE" sz="2400" dirty="0"/>
              <a:t>Transactions</a:t>
            </a:r>
          </a:p>
          <a:p>
            <a:pPr lvl="0"/>
            <a:r>
              <a:rPr lang="en-AE" sz="2400" dirty="0"/>
              <a:t>Loan</a:t>
            </a:r>
          </a:p>
          <a:p>
            <a:pPr lvl="0"/>
            <a:r>
              <a:rPr lang="en-AE" sz="2400" dirty="0"/>
              <a:t>Loan payment</a:t>
            </a:r>
          </a:p>
          <a:p>
            <a:pPr marL="114300" lvl="0" indent="0">
              <a:buNone/>
            </a:pPr>
            <a:r>
              <a:rPr lang="en-AE" sz="2400" dirty="0"/>
              <a:t>These tables are connected using </a:t>
            </a:r>
            <a:r>
              <a:rPr lang="en-AE" sz="2400" b="1" dirty="0"/>
              <a:t>Primary Keys</a:t>
            </a:r>
            <a:r>
              <a:rPr lang="en-AE" sz="2400" dirty="0"/>
              <a:t> and </a:t>
            </a:r>
            <a:r>
              <a:rPr lang="en-AE" sz="2400" b="1" dirty="0"/>
              <a:t>Foreign Keys</a:t>
            </a:r>
            <a:r>
              <a:rPr lang="en-AE" sz="2400" dirty="0"/>
              <a:t> to maintain relational database integrity.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60923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EED3-B30A-BC78-0F7E-CD859EE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3271684" cy="88490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n-lt"/>
              </a:rPr>
              <a:t>ER Diagram  </a:t>
            </a:r>
            <a:endParaRPr lang="en-AE" sz="28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D31E0-2040-716A-3977-E12EAEFA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94" y="855854"/>
            <a:ext cx="10031506" cy="534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0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E6572-44CD-E72F-11AE-FDCD3A20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5" y="188450"/>
            <a:ext cx="10908631" cy="1296222"/>
          </a:xfrm>
        </p:spPr>
        <p:txBody>
          <a:bodyPr>
            <a:noAutofit/>
          </a:bodyPr>
          <a:lstStyle/>
          <a:p>
            <a:r>
              <a:rPr sz="2800" dirty="0"/>
              <a:t>Key Analysis Questions</a:t>
            </a:r>
            <a:br>
              <a:rPr lang="en-US" sz="2800" dirty="0"/>
            </a:br>
            <a:endParaRPr sz="2800" dirty="0"/>
          </a:p>
          <a:p>
            <a:r>
              <a:rPr sz="2800" dirty="0"/>
              <a:t>1. Customer Profile &amp; Segmentation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54BB7-72DC-B53C-6BBF-96A76DCD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644" y="1484672"/>
            <a:ext cx="10908631" cy="4316361"/>
          </a:xfrm>
        </p:spPr>
        <p:txBody>
          <a:bodyPr wrap="square">
            <a:normAutofit/>
          </a:bodyPr>
          <a:lstStyle/>
          <a:p>
            <a:r>
              <a:rPr sz="2400" dirty="0"/>
              <a:t>How many customers are currently in the database?</a:t>
            </a:r>
          </a:p>
          <a:p>
            <a:r>
              <a:rPr sz="2400" dirty="0"/>
              <a:t>Query:</a:t>
            </a:r>
          </a:p>
          <a:p>
            <a:pPr marL="114300" indent="0">
              <a:buNone/>
            </a:pPr>
            <a:endParaRPr lang="en-US" sz="2400" dirty="0">
              <a:latin typeface="Courier New"/>
            </a:endParaRPr>
          </a:p>
          <a:p>
            <a:pPr marL="114300" indent="0">
              <a:buNone/>
            </a:pPr>
            <a:endParaRPr lang="en-US" sz="2400" dirty="0">
              <a:latin typeface="Courier New"/>
            </a:endParaRPr>
          </a:p>
          <a:p>
            <a:pPr marL="114300" indent="0">
              <a:buNone/>
            </a:pPr>
            <a:endParaRPr lang="en-US" sz="2400" dirty="0">
              <a:latin typeface="Courier New"/>
            </a:endParaRPr>
          </a:p>
          <a:p>
            <a:pPr marL="114300" indent="0">
              <a:buNone/>
            </a:pPr>
            <a:endParaRPr sz="2400" dirty="0">
              <a:latin typeface="Courier New"/>
            </a:endParaRPr>
          </a:p>
          <a:p>
            <a:r>
              <a:rPr sz="2400" dirty="0"/>
              <a:t>Business Insight:</a:t>
            </a:r>
            <a:r>
              <a:rPr lang="en-US" sz="2400" dirty="0"/>
              <a:t> </a:t>
            </a:r>
            <a:r>
              <a:rPr sz="2400" dirty="0"/>
              <a:t>Provides the overall size of the bank's customer 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E1E25-22D8-B418-7C09-3D411E312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93" y="3140005"/>
            <a:ext cx="1871771" cy="11437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61D380-3550-23DD-6766-C35B75D6A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331" y="2166858"/>
            <a:ext cx="3977749" cy="107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5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66CA-ECA2-E515-4A9C-743AFF70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48"/>
            <a:ext cx="10515600" cy="771834"/>
          </a:xfrm>
        </p:spPr>
        <p:txBody>
          <a:bodyPr>
            <a:normAutofit/>
          </a:bodyPr>
          <a:lstStyle/>
          <a:p>
            <a:r>
              <a:rPr sz="2800"/>
              <a:t>How are customers distributed by activity status?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3E14F-2A27-B95B-167A-7C3600755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1" y="1109679"/>
            <a:ext cx="10515600" cy="5043947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r>
              <a:rPr sz="1600" dirty="0">
                <a:latin typeface="Courier New"/>
              </a:rPr>
              <a:t>SELECT </a:t>
            </a:r>
            <a:r>
              <a:rPr sz="1600" dirty="0" err="1">
                <a:latin typeface="Courier New"/>
              </a:rPr>
              <a:t>is_active</a:t>
            </a:r>
            <a:r>
              <a:rPr sz="1600" dirty="0">
                <a:latin typeface="Courier New"/>
              </a:rPr>
              <a:t>,</a:t>
            </a:r>
          </a:p>
          <a:p>
            <a:r>
              <a:rPr sz="1600" dirty="0">
                <a:latin typeface="Courier New"/>
              </a:rPr>
              <a:t>       COUNT(*) AS </a:t>
            </a:r>
            <a:r>
              <a:rPr sz="1600" dirty="0" err="1">
                <a:latin typeface="Courier New"/>
              </a:rPr>
              <a:t>total_customers</a:t>
            </a:r>
            <a:endParaRPr sz="1600" dirty="0">
              <a:latin typeface="Courier New"/>
            </a:endParaRPr>
          </a:p>
          <a:p>
            <a:r>
              <a:rPr sz="1600" dirty="0">
                <a:latin typeface="Courier New"/>
              </a:rPr>
              <a:t>FROM customers</a:t>
            </a:r>
          </a:p>
          <a:p>
            <a:r>
              <a:rPr sz="1600" dirty="0">
                <a:latin typeface="Courier New"/>
              </a:rPr>
              <a:t>GROUP BY </a:t>
            </a:r>
            <a:r>
              <a:rPr sz="1600" dirty="0" err="1">
                <a:latin typeface="Courier New"/>
              </a:rPr>
              <a:t>is_active</a:t>
            </a:r>
            <a:r>
              <a:rPr sz="1600" dirty="0">
                <a:latin typeface="Courier New"/>
              </a:rPr>
              <a:t>;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Helps compare active and inactive customers and identify engagement levels.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7467B-3EDC-4939-4E31-2F97CB84F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45" y="1595777"/>
            <a:ext cx="5873022" cy="128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68648-61C8-1895-E3D4-FDD873EF8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554" y="2992490"/>
            <a:ext cx="5696753" cy="98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3AE0-4C00-227B-162D-69080CAF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r>
              <a:rPr sz="2800"/>
              <a:t>How are customers distributed across different segments?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5DD7B-9A26-0858-FC72-8457DEE2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368"/>
            <a:ext cx="10515600" cy="4967595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Identifies the largest and smallest customer groups for targeted banking strategies.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FD008B-03D3-9CED-F02F-CFE4F7340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833" y="1462562"/>
            <a:ext cx="2990099" cy="17190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0D8016-71E8-6D98-D5C7-649D6D2BC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833" y="3181608"/>
            <a:ext cx="2888500" cy="204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8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C510-4B11-8C97-E577-11B9C1F0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9611"/>
          </a:xfrm>
        </p:spPr>
        <p:txBody>
          <a:bodyPr>
            <a:normAutofit/>
          </a:bodyPr>
          <a:lstStyle/>
          <a:p>
            <a:r>
              <a:rPr sz="2800"/>
              <a:t>How do income and credit scores differ across customer segments?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D875D-1F1A-6548-18DC-07EDA0C5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1884"/>
            <a:ext cx="10515600" cy="5115079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Helps identify financially valuable customer segments and compare credit profiles.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3057DF-4C19-326B-C9E2-5B18502F6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580" y="1288140"/>
            <a:ext cx="4018320" cy="19291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8E3AC-F559-DEA4-E729-D1D2F1BF0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580" y="3280341"/>
            <a:ext cx="4080220" cy="168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41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87AB-B107-7E26-4F28-A36B9F96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2634"/>
          </a:xfrm>
        </p:spPr>
        <p:txBody>
          <a:bodyPr>
            <a:noAutofit/>
          </a:bodyPr>
          <a:lstStyle/>
          <a:p>
            <a:r>
              <a:rPr sz="2800"/>
              <a:t>What is the KYC status distribution among customers?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FF70D-0C9D-85AB-B68B-87F2E40D5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041"/>
            <a:ext cx="10515600" cy="4439920"/>
          </a:xfrm>
        </p:spPr>
        <p:txBody>
          <a:bodyPr wrap="square">
            <a:no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Helps the bank monitor customer verification and regulatory compliance.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CB1C1-08DE-BD66-C6A1-A5FAE2824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255" y="1401602"/>
            <a:ext cx="3208886" cy="1733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BC59E4-FA95-6191-228C-B30342B4A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941" y="3216541"/>
            <a:ext cx="2997200" cy="141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49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7195-8253-4510-AE57-137BAD877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3"/>
            <a:ext cx="10515600" cy="914400"/>
          </a:xfrm>
        </p:spPr>
        <p:txBody>
          <a:bodyPr>
            <a:normAutofit/>
          </a:bodyPr>
          <a:lstStyle/>
          <a:p>
            <a:r>
              <a:rPr sz="2800"/>
              <a:t>2. Account Usage &amp; Branch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DAA65-321B-4A31-5E75-6E6B35DA9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9703"/>
            <a:ext cx="10515600" cy="4987259"/>
          </a:xfrm>
        </p:spPr>
        <p:txBody>
          <a:bodyPr wrap="square"/>
          <a:lstStyle/>
          <a:p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are accounts distributed across different account types?</a:t>
            </a:r>
          </a:p>
          <a:p>
            <a:endParaRPr sz="1600" dirty="0">
              <a:latin typeface="Courier New"/>
            </a:endParaRPr>
          </a:p>
          <a:p>
            <a:r>
              <a:rPr sz="1600" dirty="0"/>
              <a:t>Query:</a:t>
            </a: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lang="en-US" sz="1600" dirty="0">
              <a:latin typeface="Courier New"/>
            </a:endParaRPr>
          </a:p>
          <a:p>
            <a:pPr marL="114300" indent="0">
              <a:buNone/>
            </a:pPr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the most popular banking account products.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D3EBA8-3FB3-EC77-30D4-B2AB8783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01" y="1988845"/>
            <a:ext cx="3297421" cy="1846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D6AB68-3946-63AB-0EC5-D0B9F72CC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407" y="3915351"/>
            <a:ext cx="2675208" cy="143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6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EB21-B098-D0CA-1780-101D831D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919"/>
          </a:xfrm>
        </p:spPr>
        <p:txBody>
          <a:bodyPr>
            <a:normAutofit/>
          </a:bodyPr>
          <a:lstStyle/>
          <a:p>
            <a:r>
              <a:rPr sz="2800"/>
              <a:t>Which account types maintain the highest balances?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D00A9-C174-F9CC-B2E7-8DC05C39F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7020"/>
            <a:ext cx="10515600" cy="4829944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which account products contribute the most to total deposits and balances</a:t>
            </a:r>
            <a:r>
              <a:rPr sz="1600" dirty="0">
                <a:latin typeface="Courier New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240C9-3A3C-8D2C-777B-F27BE8E81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147" y="1584052"/>
            <a:ext cx="4317720" cy="1823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0E7DA-7A1C-9618-12C1-66811859C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147" y="3633797"/>
            <a:ext cx="4317720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82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0A4F-BECB-0C14-6EDA-D329CBC1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>
            <a:normAutofit/>
          </a:bodyPr>
          <a:lstStyle/>
          <a:p>
            <a:r>
              <a:rPr sz="2800"/>
              <a:t>Which branches manage the highest number of accounts?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850E1-C41A-3599-11E0-064B66AC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6852"/>
            <a:ext cx="10515600" cy="4820111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compare branch-level account activity and customer reach.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9AD75-0FDF-D37E-1478-2C0D9DF30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762" y="1525533"/>
            <a:ext cx="3406435" cy="184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CCB8F3-0715-CBBA-23DE-08454F18A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762" y="3538414"/>
            <a:ext cx="3406435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7F0A-E943-6E0A-6822-0A77FC3AB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/>
          </a:bodyPr>
          <a:lstStyle/>
          <a:p>
            <a:r>
              <a:rPr sz="2800"/>
              <a:t>How are accounts distributed by account status?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3F8F5-CF46-CE24-343C-D6EA8EE2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8865"/>
            <a:ext cx="10515600" cy="4938098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identify the proportion of active, closed, or other account statuses</a:t>
            </a:r>
            <a:r>
              <a:rPr sz="1600" dirty="0">
                <a:latin typeface="Courier New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B9237C-62C5-AD42-D9A3-20190F5A9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932" y="1416424"/>
            <a:ext cx="3138268" cy="1542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B769A9-BB6A-1D42-37ED-A0120BEAC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931" y="3162276"/>
            <a:ext cx="3176883" cy="107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32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B2AD-8BE9-E445-ED6E-449BFAD2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130"/>
            <a:ext cx="10515600" cy="747252"/>
          </a:xfrm>
        </p:spPr>
        <p:txBody>
          <a:bodyPr>
            <a:normAutofit/>
          </a:bodyPr>
          <a:lstStyle/>
          <a:p>
            <a:r>
              <a:rPr sz="2800"/>
              <a:t>3. Transaction Pattern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D9270-1DD2-A4FA-F77B-EF6A1933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1381"/>
            <a:ext cx="10515600" cy="5085582"/>
          </a:xfrm>
        </p:spPr>
        <p:txBody>
          <a:bodyPr wrap="square"/>
          <a:lstStyle/>
          <a:p>
            <a:r>
              <a:rPr sz="1600" dirty="0"/>
              <a:t>Which transaction types are most common?</a:t>
            </a:r>
          </a:p>
          <a:p>
            <a:endParaRPr sz="1600" dirty="0"/>
          </a:p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Identifies the most frequently used transaction services and their monetary volume.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89D3E-442A-D1F2-0179-BF0C2FE1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0" y="1947274"/>
            <a:ext cx="3384467" cy="1921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78848-EA49-40C1-4575-99D3A10A2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600" y="3864668"/>
            <a:ext cx="3384467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94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116D0-C731-8614-6B38-62214DDE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r>
              <a:rPr sz="2800"/>
              <a:t>Which transaction channels are used most frequently?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3538D-2782-87CC-7566-A15A00D1D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6852"/>
            <a:ext cx="10515600" cy="4768645"/>
          </a:xfrm>
        </p:spPr>
        <p:txBody>
          <a:bodyPr wrap="square">
            <a:no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Shows customer preferences for different banking channels.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EED892-FF45-8886-AEF5-68EAE2A4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22" y="1539340"/>
            <a:ext cx="2712955" cy="1386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62EA1E-D16C-7EFF-AC6B-7868DDC12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322" y="3150573"/>
            <a:ext cx="2758679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28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C5E3-F52A-355F-682A-A9B05DFA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/>
          </a:bodyPr>
          <a:lstStyle/>
          <a:p>
            <a:r>
              <a:rPr sz="2800"/>
              <a:t>How does transaction activity change over time?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0C1BC-A100-D733-1393-4BAE4DCD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01213"/>
            <a:ext cx="10515600" cy="5075750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Helps identify monthly and yearly transaction trends.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15FD8C-FF78-6EAB-C790-2B81358F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374" y="1313120"/>
            <a:ext cx="4199925" cy="18113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21D99A-37CE-6C23-889A-93B5097C5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374" y="3203119"/>
            <a:ext cx="3902426" cy="21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13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D644-9B2D-A2EC-BF4E-8E22F930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18100"/>
          </a:xfrm>
        </p:spPr>
        <p:txBody>
          <a:bodyPr>
            <a:normAutofit/>
          </a:bodyPr>
          <a:lstStyle/>
          <a:p>
            <a:r>
              <a:rPr sz="2800"/>
              <a:t>4. Loan Performance &amp; Repayment Behaviour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99262-47D9-59AD-C538-C9314A393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9535"/>
            <a:ext cx="10515600" cy="4977428"/>
          </a:xfrm>
        </p:spPr>
        <p:txBody>
          <a:bodyPr wrap="square"/>
          <a:lstStyle/>
          <a:p>
            <a:r>
              <a:rPr sz="1600" dirty="0"/>
              <a:t>How are loans distributed across different loan types?</a:t>
            </a:r>
          </a:p>
          <a:p>
            <a:endParaRPr sz="1600" dirty="0"/>
          </a:p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Shows the popularity and financial exposure of different loan products.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C5B9C-EE5B-040E-8025-A9C812921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084" y="2003937"/>
            <a:ext cx="4643715" cy="1577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BC6BF4-F844-7E93-4BDF-131D417C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880" y="3505205"/>
            <a:ext cx="4096720" cy="17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06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B885-2688-8709-10DE-D537911D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894735"/>
          </a:xfrm>
        </p:spPr>
        <p:txBody>
          <a:bodyPr>
            <a:noAutofit/>
          </a:bodyPr>
          <a:lstStyle/>
          <a:p>
            <a:r>
              <a:rPr sz="2800"/>
              <a:t>Which loan types have the highest outstanding balances?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17B7A-C3C6-3142-37C1-8DD904D3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9032"/>
            <a:ext cx="10515600" cy="4947931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Identifies loan categories contributing the highest outstanding credit exposure.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E7C2E5-B444-8E54-C220-E4E122AA0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19" y="1790557"/>
            <a:ext cx="5485386" cy="1188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03A0A1-685D-87F4-D602-4A29B18AF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919" y="3207121"/>
            <a:ext cx="2877548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4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FC12-8F6C-E2D1-E0E0-0428FC8CB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297"/>
            <a:ext cx="10515600" cy="766916"/>
          </a:xfrm>
        </p:spPr>
        <p:txBody>
          <a:bodyPr>
            <a:normAutofit/>
          </a:bodyPr>
          <a:lstStyle/>
          <a:p>
            <a:r>
              <a:rPr sz="2800"/>
              <a:t>Which loans have delayed payments?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9F6B6-635A-9E64-FBC5-A75AD8EA8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7521"/>
            <a:ext cx="10515600" cy="4859442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Helps identify loans with repayment delays and potential repayment risk.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1BD981-17B1-DE14-CABB-FD060359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647" y="1509687"/>
            <a:ext cx="3470620" cy="16576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06946C-60B0-A112-581F-34743AEB8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01" y="3167297"/>
            <a:ext cx="2606266" cy="175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43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5C9E7-8051-D0B8-96EE-242DD990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r>
              <a:rPr sz="2800"/>
              <a:t>Which loans have generated the highest penalties?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F026B-0FCD-38DD-1120-F75D0B6CC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7019"/>
            <a:ext cx="10515600" cy="4829944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Highlights loans with frequent late-payment penalties.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EE289D-D3DB-712F-D2B1-40750FFDD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934" y="1443317"/>
            <a:ext cx="4198734" cy="1804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5A8412-A5BA-F4DF-3869-639AEAAA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964" y="3248036"/>
            <a:ext cx="1600339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52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76E0-7A8B-FB01-55A5-337631C0A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8268"/>
          </a:xfrm>
        </p:spPr>
        <p:txBody>
          <a:bodyPr>
            <a:normAutofit/>
          </a:bodyPr>
          <a:lstStyle/>
          <a:p>
            <a:r>
              <a:rPr sz="2800"/>
              <a:t>How does repayment behaviour differ across loan types?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5B583-A99F-DB88-D400-8DF4330CA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8194"/>
            <a:ext cx="10515600" cy="4898769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sz="1600" dirty="0"/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Compares repayment </a:t>
            </a:r>
            <a:r>
              <a:rPr sz="1600" dirty="0" err="1"/>
              <a:t>behaviour</a:t>
            </a:r>
            <a:r>
              <a:rPr sz="1600" dirty="0"/>
              <a:t> and risk across different loan products.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4E55A-D56C-6368-AD70-C92CE3B41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87" y="1278194"/>
            <a:ext cx="3886537" cy="2164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B5D4BA-1AAF-BC98-94FD-C63125B54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187" y="3530547"/>
            <a:ext cx="3886537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14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40B5-98E8-BBBE-7FC1-1DB223598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933"/>
          </a:xfrm>
        </p:spPr>
        <p:txBody>
          <a:bodyPr>
            <a:normAutofit/>
          </a:bodyPr>
          <a:lstStyle/>
          <a:p>
            <a:r>
              <a:rPr sz="2800"/>
              <a:t>5. Card Usage &amp; Product Engagement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3484C-FA5F-46CC-EDCC-AFF8FEFAF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1716"/>
            <a:ext cx="10515600" cy="5105247"/>
          </a:xfrm>
        </p:spPr>
        <p:txBody>
          <a:bodyPr wrap="square"/>
          <a:lstStyle/>
          <a:p>
            <a:r>
              <a:rPr sz="1600" dirty="0"/>
              <a:t>How are cards distributed across different card types?</a:t>
            </a:r>
          </a:p>
          <a:p>
            <a:endParaRPr sz="1600" dirty="0"/>
          </a:p>
          <a:p>
            <a:r>
              <a:rPr sz="1600" dirty="0"/>
              <a:t>Query: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sz="1600" dirty="0"/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 </a:t>
            </a:r>
            <a:r>
              <a:rPr sz="1600" dirty="0"/>
              <a:t>Identifies the most popular card products offered by the bank.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6C8E61-A7CE-3E26-0D7F-C794AB9E9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58" y="1940938"/>
            <a:ext cx="3891809" cy="16573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BF754E-2E60-A878-F89C-8CF04087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192" y="3676991"/>
            <a:ext cx="2495608" cy="96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89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EB21-B7A0-4902-7B71-7DD2C1D1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10"/>
            <a:ext cx="10515600" cy="825909"/>
          </a:xfrm>
        </p:spPr>
        <p:txBody>
          <a:bodyPr>
            <a:normAutofit/>
          </a:bodyPr>
          <a:lstStyle/>
          <a:p>
            <a:r>
              <a:rPr sz="2800"/>
              <a:t>How do credit limits and outstanding balances vary by card type?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E3C44-7FC5-8FD7-8A96-7494C857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9536"/>
            <a:ext cx="10515600" cy="4977428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Helps compare customer credit exposure across different card products.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76260A-A42E-CF1B-C8F6-5B4AD9C3A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32" y="1743678"/>
            <a:ext cx="4472722" cy="1397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32FCA-34DB-DEC1-A218-20AF467B2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32" y="3429000"/>
            <a:ext cx="4609572" cy="77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52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8A26-7C90-5A9F-8629-02C95669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598"/>
          </a:xfrm>
        </p:spPr>
        <p:txBody>
          <a:bodyPr>
            <a:normAutofit/>
          </a:bodyPr>
          <a:lstStyle/>
          <a:p>
            <a:r>
              <a:rPr sz="2800"/>
              <a:t>Which card types have the highest reward points?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53DD8-9A91-C6D4-A635-57634E1A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8865"/>
            <a:ext cx="10515600" cy="4938098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  <a:r>
              <a:rPr lang="en-US" sz="1600" dirty="0"/>
              <a:t> </a:t>
            </a:r>
            <a:r>
              <a:rPr sz="1600" dirty="0"/>
              <a:t>Shows which card products generate the greatest customer reward engagement.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AC69BE-0B38-B445-7FD9-2603A3ABB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24" y="1479495"/>
            <a:ext cx="4643276" cy="16231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DACD58-F808-8D3E-C19C-2FF7499D7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123" y="3162277"/>
            <a:ext cx="4765897" cy="84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71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5B22-0259-0974-E5DF-6EC5CFC6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236"/>
          </a:xfrm>
        </p:spPr>
        <p:txBody>
          <a:bodyPr>
            <a:noAutofit/>
          </a:bodyPr>
          <a:lstStyle/>
          <a:p>
            <a:r>
              <a:rPr sz="2800"/>
              <a:t>Which customers use multiple banking products?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DDD97-E78F-439F-D2CA-6DE73EB28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86348"/>
            <a:ext cx="10515600" cy="4790615"/>
          </a:xfrm>
        </p:spPr>
        <p:txBody>
          <a:bodyPr wrap="square">
            <a:normAutofit/>
          </a:bodyPr>
          <a:lstStyle/>
          <a:p>
            <a:r>
              <a:rPr sz="1600" dirty="0"/>
              <a:t>Query:</a:t>
            </a: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lang="en-US" sz="1600" dirty="0">
              <a:latin typeface="Courier New"/>
            </a:endParaRPr>
          </a:p>
          <a:p>
            <a:endParaRPr sz="1600" dirty="0">
              <a:latin typeface="Courier New"/>
            </a:endParaRPr>
          </a:p>
          <a:p>
            <a:r>
              <a:rPr sz="1600" dirty="0"/>
              <a:t>Business Insight:</a:t>
            </a:r>
          </a:p>
          <a:p>
            <a:r>
              <a:rPr sz="1600" dirty="0"/>
              <a:t>Identifies highly engaged customers and opportunities for cross-selling banking products.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0AD1A2-BCBB-EB29-5A3F-09B92A90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70" y="2190642"/>
            <a:ext cx="4595258" cy="2476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0E050-DFAC-8017-E894-8F46F651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07" y="2190641"/>
            <a:ext cx="5082531" cy="239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9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08A1-FBA9-8545-8E85-BD0FEB4B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3" y="365126"/>
            <a:ext cx="11041625" cy="103105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Challenges / Experiences:</a:t>
            </a:r>
            <a:endParaRPr lang="en-AE" sz="4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B7BDD-C2A8-9493-A219-27D525754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103" y="1268361"/>
            <a:ext cx="11041625" cy="4916129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Understanding the </a:t>
            </a:r>
            <a:r>
              <a:rPr lang="en-US" sz="2400" b="1" dirty="0"/>
              <a:t>ER diagram and relationships</a:t>
            </a:r>
            <a:r>
              <a:rPr lang="en-US" sz="2400" dirty="0"/>
              <a:t> between multiple banking tables, including primary and foreign keys. </a:t>
            </a:r>
          </a:p>
          <a:p>
            <a:pPr lvl="0"/>
            <a:r>
              <a:rPr lang="en-US" sz="2400" dirty="0"/>
              <a:t>Designing the MySQL database with appropriate </a:t>
            </a:r>
            <a:r>
              <a:rPr lang="en-US" sz="2400" b="1" dirty="0"/>
              <a:t>data types, constraints, and table dependencies</a:t>
            </a:r>
            <a:r>
              <a:rPr lang="en-US" sz="2400" dirty="0"/>
              <a:t>. </a:t>
            </a:r>
          </a:p>
          <a:p>
            <a:pPr lvl="0"/>
            <a:r>
              <a:rPr lang="en-US" sz="2400" dirty="0"/>
              <a:t>Importing and validating data across seven interconnected tables containing customers, accounts, branches, loans, payments, cards, and transactions. </a:t>
            </a:r>
          </a:p>
          <a:p>
            <a:pPr lvl="0"/>
            <a:r>
              <a:rPr lang="en-US" sz="2400" dirty="0"/>
              <a:t>Creating meaningful SQL queries by connecting multiple tables to answer different business requirements. </a:t>
            </a:r>
          </a:p>
          <a:p>
            <a:pPr lvl="0"/>
            <a:r>
              <a:rPr lang="en-US" sz="2400" dirty="0"/>
              <a:t>Interpreting the query results and converting raw banking data into meaningful </a:t>
            </a:r>
            <a:r>
              <a:rPr lang="en-US" sz="2400" b="1" dirty="0"/>
              <a:t>business insights and recommendations</a:t>
            </a:r>
            <a:r>
              <a:rPr lang="en-US" sz="2400" dirty="0"/>
              <a:t>.</a:t>
            </a:r>
          </a:p>
          <a:p>
            <a:pPr marL="114300" indent="0" algn="just">
              <a:buNone/>
            </a:pPr>
            <a:r>
              <a:rPr lang="en-AE" sz="2400" dirty="0"/>
              <a:t>     These challenges were solved using </a:t>
            </a:r>
            <a:r>
              <a:rPr lang="en-AE" sz="2400" b="1" dirty="0"/>
              <a:t>Primary Keys, Foreign Keys, JOIN operations,     	GROUP BY, SUM(), AVG(), and COUNT() functions</a:t>
            </a:r>
            <a:r>
              <a:rPr lang="en-AE" sz="2400" dirty="0"/>
              <a:t>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46460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EB798D-4D98-A3E8-4344-88310083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365126"/>
            <a:ext cx="10962968" cy="893404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Conclusion : </a:t>
            </a:r>
            <a:endParaRPr lang="en-AE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D7CCC87-6886-7C0C-507C-A434EB8AB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484672"/>
            <a:ext cx="10962968" cy="4365522"/>
          </a:xfrm>
        </p:spPr>
        <p:txBody>
          <a:bodyPr>
            <a:normAutofit/>
          </a:bodyPr>
          <a:lstStyle/>
          <a:p>
            <a:pPr lvl="0" algn="just"/>
            <a:r>
              <a:rPr lang="en-AE" sz="2400" dirty="0"/>
              <a:t>Successfully designed and implemented an Employee Management System using MySQL. </a:t>
            </a:r>
          </a:p>
          <a:p>
            <a:pPr lvl="0" algn="just"/>
            <a:r>
              <a:rPr lang="en-AE" sz="2400" dirty="0"/>
              <a:t>Managed six interrelated tables for employees, job roles, salaries, qualifications, leaves, and payroll. </a:t>
            </a:r>
          </a:p>
          <a:p>
            <a:pPr lvl="0" algn="just"/>
            <a:r>
              <a:rPr lang="en-AE" sz="2400" dirty="0"/>
              <a:t>Used SQL queries, joins, and aggregate functions to generate meaningful employee and payroll insights. </a:t>
            </a:r>
          </a:p>
          <a:p>
            <a:pPr lvl="0" algn="just"/>
            <a:r>
              <a:rPr lang="en-AE" sz="2400" dirty="0"/>
              <a:t>Improved understanding of relational database design, foreign keys, data integrity, and SQL-based analysis. </a:t>
            </a:r>
            <a:endParaRPr lang="en-AE" sz="2400" b="1" dirty="0"/>
          </a:p>
          <a:p>
            <a:pPr algn="just"/>
            <a:r>
              <a:rPr lang="en-AE" sz="2400" b="1" dirty="0"/>
              <a:t>“This project helped me understand how SQL can be used to manage real-world employee data and generate meaningful business insights. Thank you.”</a:t>
            </a:r>
            <a:endParaRPr lang="en-AE" sz="2400" dirty="0"/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09995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8351" y="1519082"/>
            <a:ext cx="4709651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934066" y="2782528"/>
            <a:ext cx="5322802" cy="8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5300" b="1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</a:t>
            </a:r>
            <a:r>
              <a:rPr lang="en-IN" sz="5300" b="1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</a:t>
            </a:r>
            <a:endParaRPr sz="5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</TotalTime>
  <Words>1037</Words>
  <Application>Microsoft Office PowerPoint</Application>
  <PresentationFormat>Widescreen</PresentationFormat>
  <Paragraphs>327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Libre Baskerville</vt:lpstr>
      <vt:lpstr>Calibri</vt:lpstr>
      <vt:lpstr>Courier New</vt:lpstr>
      <vt:lpstr>Office Theme</vt:lpstr>
      <vt:lpstr>PowerPoint Presentation</vt:lpstr>
      <vt:lpstr>About Me</vt:lpstr>
      <vt:lpstr>Agenda</vt:lpstr>
      <vt:lpstr> Objective of the Project : </vt:lpstr>
      <vt:lpstr> Database Structure :  </vt:lpstr>
      <vt:lpstr>ER Diagram  </vt:lpstr>
      <vt:lpstr>Key Analysis Questions  1. Customer Profile &amp; Segmentation</vt:lpstr>
      <vt:lpstr>How are customers distributed by activity status?</vt:lpstr>
      <vt:lpstr>How are customers distributed across different segments?</vt:lpstr>
      <vt:lpstr>How do income and credit scores differ across customer segments?</vt:lpstr>
      <vt:lpstr>What is the KYC status distribution among customers?</vt:lpstr>
      <vt:lpstr>2. Account Usage &amp; Branch Activity</vt:lpstr>
      <vt:lpstr>Which account types maintain the highest balances?</vt:lpstr>
      <vt:lpstr>Which branches manage the highest number of accounts?</vt:lpstr>
      <vt:lpstr>How are accounts distributed by account status?</vt:lpstr>
      <vt:lpstr>3. Transaction Pattern Analysis</vt:lpstr>
      <vt:lpstr>Which transaction channels are used most frequently?</vt:lpstr>
      <vt:lpstr>How does transaction activity change over time?</vt:lpstr>
      <vt:lpstr>4. Loan Performance &amp; Repayment Behaviour</vt:lpstr>
      <vt:lpstr>Which loan types have the highest outstanding balances?</vt:lpstr>
      <vt:lpstr>Which loans have delayed payments?</vt:lpstr>
      <vt:lpstr>Which loans have generated the highest penalties?</vt:lpstr>
      <vt:lpstr>How does repayment behaviour differ across loan types?</vt:lpstr>
      <vt:lpstr>5. Card Usage &amp; Product Engagement</vt:lpstr>
      <vt:lpstr>How do credit limits and outstanding balances vary by card type?</vt:lpstr>
      <vt:lpstr>Which card types have the highest reward points?</vt:lpstr>
      <vt:lpstr>Which customers use multiple banking products?</vt:lpstr>
      <vt:lpstr>Challenges / Experiences:</vt:lpstr>
      <vt:lpstr>Conclusion 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Shantanu Punwatkar</cp:lastModifiedBy>
  <cp:revision>8</cp:revision>
  <dcterms:created xsi:type="dcterms:W3CDTF">2021-02-16T05:19:01Z</dcterms:created>
  <dcterms:modified xsi:type="dcterms:W3CDTF">2026-09-04T18:52:45Z</dcterms:modified>
</cp:coreProperties>
</file>